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4" r:id="rId26"/>
    <p:sldId id="280" r:id="rId27"/>
    <p:sldId id="281" r:id="rId28"/>
    <p:sldId id="282" r:id="rId29"/>
    <p:sldId id="283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52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9101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CD6C2-6F81-70C5-453D-0645FAE53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C87EB0-651B-CA90-98AE-EA64DB9D9A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C2E61C-A79C-958B-6356-F97FCA94C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7F27A-BF56-16EA-FCA6-873DABE7E7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E53935">
              <a:alpha val="12000"/>
            </a:srgbClr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0" y="2286000"/>
            <a:ext cx="2011680" cy="2011680"/>
          </a:xfrm>
          <a:prstGeom prst="ellipse">
            <a:avLst/>
          </a:prstGeom>
          <a:solidFill>
            <a:srgbClr val="E53935">
              <a:alpha val="8000"/>
            </a:srgbClr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600" dirty="0">
                <a:solidFill>
                  <a:srgbClr val="90A4AE"/>
                </a:solidFill>
              </a:rPr>
              <a:t>BUKU PANDUAN PENGGUNAAN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Dashboard Koperasi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FCDD2"/>
                </a:solidFill>
              </a:rPr>
              <a:t>Desa/Kelurahan Merah Putih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64B5F6"/>
                </a:solidFill>
              </a:rPr>
              <a:t>Sulawesi Tenggara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CDD2"/>
                </a:solidFill>
              </a:rPr>
              <a:t>@m45y  ·  LATSAR CPNS 2026  ·  GOL III ANGKATAN I  ·  Versi 1.0</a:t>
            </a: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51B714-CBCB-7BED-1C48-9DC5BF9AA1DD}"/>
              </a:ext>
            </a:extLst>
          </p:cNvPr>
          <p:cNvSpPr txBox="1"/>
          <p:nvPr/>
        </p:nvSpPr>
        <p:spPr>
          <a:xfrm>
            <a:off x="457200" y="3423994"/>
            <a:ext cx="3827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tx2">
                    <a:lumMod val="40000"/>
                    <a:lumOff val="60000"/>
                  </a:schemeClr>
                </a:solidFill>
              </a:rPr>
              <a:t>https://koperasi-sultra.vercel.app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Daftar Isi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D8DC"/>
                </a:solidFill>
              </a:rPr>
              <a:t>2/28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</a:rPr>
              <a:t>Dashboard Koperasi Desa/Kelurahan Merah Putih — Sulawesi Tenggara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</a:rPr>
              <a:t>Apa saja yang akan dibahas?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4160520" cy="621792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188720"/>
            <a:ext cx="475488" cy="6217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188720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16736"/>
            <a:ext cx="292608" cy="2926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1298448"/>
            <a:ext cx="347472" cy="347472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325880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80160" y="12527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Tentang Aplikasi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280160" y="152704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Tujuan, pengguna, teknologi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20040" y="1938528"/>
            <a:ext cx="4160520" cy="621792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20040" y="1938528"/>
            <a:ext cx="475488" cy="6217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320040" y="1938528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066544"/>
            <a:ext cx="292608" cy="29260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22960" y="2048256"/>
            <a:ext cx="347472" cy="347472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2075688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0160" y="20025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Navigasi Umum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280160" y="227685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Layout, sidebar, header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0040" y="2688336"/>
            <a:ext cx="4160520" cy="621792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320040" y="2688336"/>
            <a:ext cx="475488" cy="6217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320040" y="2688336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816352"/>
            <a:ext cx="292608" cy="292608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822960" y="2798064"/>
            <a:ext cx="347472" cy="347472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2825496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280160" y="27523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Peta Persebaran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1280160" y="302666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Marker, filter, tabel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320040" y="3438144"/>
            <a:ext cx="4160520" cy="621792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6"/>
          <p:cNvSpPr/>
          <p:nvPr/>
        </p:nvSpPr>
        <p:spPr>
          <a:xfrm>
            <a:off x="320040" y="3438144"/>
            <a:ext cx="475488" cy="6217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7"/>
          <p:cNvSpPr/>
          <p:nvPr/>
        </p:nvSpPr>
        <p:spPr>
          <a:xfrm>
            <a:off x="320040" y="3438144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566160"/>
            <a:ext cx="292608" cy="292608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2960" y="3547872"/>
            <a:ext cx="347472" cy="347472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3575304"/>
            <a:ext cx="256032" cy="25603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1280160" y="35021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Panel Info</a:t>
            </a:r>
            <a:endParaRPr lang="en-US" sz="1300" dirty="0"/>
          </a:p>
        </p:txBody>
      </p:sp>
      <p:sp>
        <p:nvSpPr>
          <p:cNvPr id="40" name="Text 30"/>
          <p:cNvSpPr/>
          <p:nvPr/>
        </p:nvSpPr>
        <p:spPr>
          <a:xfrm>
            <a:off x="1280160" y="377647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Detail koperasi, foto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4754880" y="1188720"/>
            <a:ext cx="4160520" cy="621792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2"/>
          <p:cNvSpPr/>
          <p:nvPr/>
        </p:nvSpPr>
        <p:spPr>
          <a:xfrm>
            <a:off x="4754880" y="1188720"/>
            <a:ext cx="475488" cy="6217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3"/>
          <p:cNvSpPr/>
          <p:nvPr/>
        </p:nvSpPr>
        <p:spPr>
          <a:xfrm>
            <a:off x="4754880" y="1188720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1316736"/>
            <a:ext cx="292608" cy="292608"/>
          </a:xfrm>
          <a:prstGeom prst="rect">
            <a:avLst/>
          </a:prstGeom>
        </p:spPr>
      </p:pic>
      <p:sp>
        <p:nvSpPr>
          <p:cNvPr id="45" name="Shape 34"/>
          <p:cNvSpPr/>
          <p:nvPr/>
        </p:nvSpPr>
        <p:spPr>
          <a:xfrm>
            <a:off x="5257800" y="1298448"/>
            <a:ext cx="347472" cy="347472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2664" y="1325880"/>
            <a:ext cx="256032" cy="256032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5715000" y="12527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Dashboard Statistik</a:t>
            </a:r>
            <a:endParaRPr lang="en-US" sz="1300" dirty="0"/>
          </a:p>
        </p:txBody>
      </p:sp>
      <p:sp>
        <p:nvSpPr>
          <p:cNvPr id="48" name="Text 36"/>
          <p:cNvSpPr/>
          <p:nvPr/>
        </p:nvSpPr>
        <p:spPr>
          <a:xfrm>
            <a:off x="5715000" y="152704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KPI, grafik, filter</a:t>
            </a:r>
            <a:endParaRPr lang="en-US" sz="1000" dirty="0"/>
          </a:p>
        </p:txBody>
      </p:sp>
      <p:sp>
        <p:nvSpPr>
          <p:cNvPr id="49" name="Shape 37"/>
          <p:cNvSpPr/>
          <p:nvPr/>
        </p:nvSpPr>
        <p:spPr>
          <a:xfrm>
            <a:off x="4754880" y="1938528"/>
            <a:ext cx="4160520" cy="621792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38"/>
          <p:cNvSpPr/>
          <p:nvPr/>
        </p:nvSpPr>
        <p:spPr>
          <a:xfrm>
            <a:off x="4754880" y="1938528"/>
            <a:ext cx="475488" cy="6217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39"/>
          <p:cNvSpPr/>
          <p:nvPr/>
        </p:nvSpPr>
        <p:spPr>
          <a:xfrm>
            <a:off x="4754880" y="1938528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pic>
        <p:nvPicPr>
          <p:cNvPr id="5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0" y="2066544"/>
            <a:ext cx="292608" cy="292608"/>
          </a:xfrm>
          <a:prstGeom prst="rect">
            <a:avLst/>
          </a:prstGeom>
        </p:spPr>
      </p:pic>
      <p:sp>
        <p:nvSpPr>
          <p:cNvPr id="53" name="Shape 40"/>
          <p:cNvSpPr/>
          <p:nvPr/>
        </p:nvSpPr>
        <p:spPr>
          <a:xfrm>
            <a:off x="5257800" y="2048256"/>
            <a:ext cx="347472" cy="347472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12664" y="2075688"/>
            <a:ext cx="256032" cy="256032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5715000" y="20025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Login Admin</a:t>
            </a:r>
            <a:endParaRPr lang="en-US" sz="1300" dirty="0"/>
          </a:p>
        </p:txBody>
      </p:sp>
      <p:sp>
        <p:nvSpPr>
          <p:cNvPr id="56" name="Text 42"/>
          <p:cNvSpPr/>
          <p:nvPr/>
        </p:nvSpPr>
        <p:spPr>
          <a:xfrm>
            <a:off x="5715000" y="227685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Autentikasi &amp; hak akses</a:t>
            </a:r>
            <a:endParaRPr lang="en-US" sz="1000" dirty="0"/>
          </a:p>
        </p:txBody>
      </p:sp>
      <p:sp>
        <p:nvSpPr>
          <p:cNvPr id="57" name="Shape 43"/>
          <p:cNvSpPr/>
          <p:nvPr/>
        </p:nvSpPr>
        <p:spPr>
          <a:xfrm>
            <a:off x="4754880" y="2688336"/>
            <a:ext cx="4160520" cy="621792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44"/>
          <p:cNvSpPr/>
          <p:nvPr/>
        </p:nvSpPr>
        <p:spPr>
          <a:xfrm>
            <a:off x="4754880" y="2688336"/>
            <a:ext cx="475488" cy="6217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45"/>
          <p:cNvSpPr/>
          <p:nvPr/>
        </p:nvSpPr>
        <p:spPr>
          <a:xfrm>
            <a:off x="4754880" y="2688336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pic>
        <p:nvPicPr>
          <p:cNvPr id="60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0" y="2816352"/>
            <a:ext cx="292608" cy="292608"/>
          </a:xfrm>
          <a:prstGeom prst="rect">
            <a:avLst/>
          </a:prstGeom>
        </p:spPr>
      </p:pic>
      <p:sp>
        <p:nvSpPr>
          <p:cNvPr id="61" name="Shape 46"/>
          <p:cNvSpPr/>
          <p:nvPr/>
        </p:nvSpPr>
        <p:spPr>
          <a:xfrm>
            <a:off x="5257800" y="2798064"/>
            <a:ext cx="347472" cy="347472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2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12664" y="2825496"/>
            <a:ext cx="256032" cy="256032"/>
          </a:xfrm>
          <a:prstGeom prst="rect">
            <a:avLst/>
          </a:prstGeom>
        </p:spPr>
      </p:pic>
      <p:sp>
        <p:nvSpPr>
          <p:cNvPr id="63" name="Text 47"/>
          <p:cNvSpPr/>
          <p:nvPr/>
        </p:nvSpPr>
        <p:spPr>
          <a:xfrm>
            <a:off x="5715000" y="27523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Kelola Basis Data</a:t>
            </a:r>
            <a:endParaRPr lang="en-US" sz="1300" dirty="0"/>
          </a:p>
        </p:txBody>
      </p:sp>
      <p:sp>
        <p:nvSpPr>
          <p:cNvPr id="64" name="Text 48"/>
          <p:cNvSpPr/>
          <p:nvPr/>
        </p:nvSpPr>
        <p:spPr>
          <a:xfrm>
            <a:off x="5715000" y="302666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Tambah, edit, hapus</a:t>
            </a:r>
            <a:endParaRPr lang="en-US" sz="1000" dirty="0"/>
          </a:p>
        </p:txBody>
      </p:sp>
      <p:sp>
        <p:nvSpPr>
          <p:cNvPr id="65" name="Shape 49"/>
          <p:cNvSpPr/>
          <p:nvPr/>
        </p:nvSpPr>
        <p:spPr>
          <a:xfrm>
            <a:off x="4754880" y="3438144"/>
            <a:ext cx="4160520" cy="621792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50"/>
          <p:cNvSpPr/>
          <p:nvPr/>
        </p:nvSpPr>
        <p:spPr>
          <a:xfrm>
            <a:off x="4754880" y="3438144"/>
            <a:ext cx="475488" cy="6217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1"/>
          <p:cNvSpPr/>
          <p:nvPr/>
        </p:nvSpPr>
        <p:spPr>
          <a:xfrm>
            <a:off x="4754880" y="3438144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pic>
        <p:nvPicPr>
          <p:cNvPr id="68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3520" y="3566160"/>
            <a:ext cx="292608" cy="292608"/>
          </a:xfrm>
          <a:prstGeom prst="rect">
            <a:avLst/>
          </a:prstGeom>
        </p:spPr>
      </p:pic>
      <p:sp>
        <p:nvSpPr>
          <p:cNvPr id="69" name="Shape 52"/>
          <p:cNvSpPr/>
          <p:nvPr/>
        </p:nvSpPr>
        <p:spPr>
          <a:xfrm>
            <a:off x="5257800" y="3547872"/>
            <a:ext cx="347472" cy="347472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0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12664" y="3575304"/>
            <a:ext cx="256032" cy="256032"/>
          </a:xfrm>
          <a:prstGeom prst="rect">
            <a:avLst/>
          </a:prstGeom>
        </p:spPr>
      </p:pic>
      <p:sp>
        <p:nvSpPr>
          <p:cNvPr id="71" name="Text 53"/>
          <p:cNvSpPr/>
          <p:nvPr/>
        </p:nvSpPr>
        <p:spPr>
          <a:xfrm>
            <a:off x="5715000" y="35021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Sinkronisasi API</a:t>
            </a:r>
            <a:endParaRPr lang="en-US" sz="1300" dirty="0"/>
          </a:p>
        </p:txBody>
      </p:sp>
      <p:sp>
        <p:nvSpPr>
          <p:cNvPr id="72" name="Text 54"/>
          <p:cNvSpPr/>
          <p:nvPr/>
        </p:nvSpPr>
        <p:spPr>
          <a:xfrm>
            <a:off x="5715000" y="377647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Integrasi Kemenkop</a:t>
            </a:r>
            <a:endParaRPr lang="en-US" sz="1000" dirty="0"/>
          </a:p>
        </p:txBody>
      </p:sp>
      <p:sp>
        <p:nvSpPr>
          <p:cNvPr id="73" name="Shape 55"/>
          <p:cNvSpPr/>
          <p:nvPr/>
        </p:nvSpPr>
        <p:spPr>
          <a:xfrm>
            <a:off x="4754880" y="4187952"/>
            <a:ext cx="4160520" cy="621792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4" name="Shape 56"/>
          <p:cNvSpPr/>
          <p:nvPr/>
        </p:nvSpPr>
        <p:spPr>
          <a:xfrm>
            <a:off x="4754880" y="4187952"/>
            <a:ext cx="475488" cy="6217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57"/>
          <p:cNvSpPr/>
          <p:nvPr/>
        </p:nvSpPr>
        <p:spPr>
          <a:xfrm>
            <a:off x="4754880" y="4187952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pic>
        <p:nvPicPr>
          <p:cNvPr id="76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03520" y="4315968"/>
            <a:ext cx="292608" cy="292608"/>
          </a:xfrm>
          <a:prstGeom prst="rect">
            <a:avLst/>
          </a:prstGeom>
        </p:spPr>
      </p:pic>
      <p:sp>
        <p:nvSpPr>
          <p:cNvPr id="77" name="Shape 58"/>
          <p:cNvSpPr/>
          <p:nvPr/>
        </p:nvSpPr>
        <p:spPr>
          <a:xfrm>
            <a:off x="5257800" y="4297680"/>
            <a:ext cx="347472" cy="347472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8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12664" y="4325112"/>
            <a:ext cx="256032" cy="256032"/>
          </a:xfrm>
          <a:prstGeom prst="rect">
            <a:avLst/>
          </a:prstGeom>
        </p:spPr>
      </p:pic>
      <p:sp>
        <p:nvSpPr>
          <p:cNvPr id="79" name="Text 59"/>
          <p:cNvSpPr/>
          <p:nvPr/>
        </p:nvSpPr>
        <p:spPr>
          <a:xfrm>
            <a:off x="5715000" y="4251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Tips &amp; Troubleshooting</a:t>
            </a:r>
            <a:endParaRPr lang="en-US" sz="1300" dirty="0"/>
          </a:p>
        </p:txBody>
      </p:sp>
      <p:sp>
        <p:nvSpPr>
          <p:cNvPr id="80" name="Text 60"/>
          <p:cNvSpPr/>
          <p:nvPr/>
        </p:nvSpPr>
        <p:spPr>
          <a:xfrm>
            <a:off x="5715000" y="45262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Solusi masalah umum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E53935">
                    <a:alpha val="40000"/>
                  </a:srgbClr>
                </a:solidFill>
              </a:rPr>
              <a:t>01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365760" y="201168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Tentang Aplikasi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90A4AE"/>
                </a:solidFill>
              </a:rPr>
              <a:t>Tujuan, pengguna, dan teknologi yang digunakan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01 — Tentang Aplikasi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D8DC"/>
                </a:solidFill>
              </a:rPr>
              <a:t>4/28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</a:rPr>
              <a:t>Dashboard Koperasi Desa/Kelurahan Merah Putih — Sulawesi Tenggara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3238"/>
                </a:solidFill>
              </a:rPr>
              <a:t>Apa itu Dashboard Koperasi Merah Putih?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11430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</a:rPr>
              <a:t>Aplikasi web untuk memetakan, memantau, dan mengelola data koperasi desa/kelurahan di Sulawesi Tenggara, terintegrasi dengan Google Sheets dan API Kemenkop.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965960"/>
            <a:ext cx="1993392" cy="2560320"/>
          </a:xfrm>
          <a:prstGeom prst="rect">
            <a:avLst/>
          </a:prstGeom>
          <a:solidFill>
            <a:srgbClr val="FFF5F5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1965960"/>
            <a:ext cx="1993392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78992" y="2148840"/>
            <a:ext cx="475488" cy="47548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185416"/>
            <a:ext cx="402336" cy="40233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11480" y="274320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3238"/>
                </a:solidFill>
              </a:rPr>
              <a:t>Peta Interaktif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11480" y="3145536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Visualisasi sebaran geografis koperasi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468880" y="1965960"/>
            <a:ext cx="1993392" cy="2560320"/>
          </a:xfrm>
          <a:prstGeom prst="rect">
            <a:avLst/>
          </a:prstGeom>
          <a:solidFill>
            <a:srgbClr val="E3F2FD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468880" y="1965960"/>
            <a:ext cx="1993392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227832" y="2148840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2185416"/>
            <a:ext cx="402336" cy="40233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560320" y="274320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3238"/>
                </a:solidFill>
              </a:rPr>
              <a:t>Dashboard Statistik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2560320" y="3145536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KPI &amp; grafik analisis data koperasi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617720" y="1965960"/>
            <a:ext cx="1993392" cy="2560320"/>
          </a:xfrm>
          <a:prstGeom prst="rect">
            <a:avLst/>
          </a:prstGeom>
          <a:solidFill>
            <a:srgbClr val="E8F5E9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4617720" y="1965960"/>
            <a:ext cx="1993392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5376672" y="2148840"/>
            <a:ext cx="475488" cy="47548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2185416"/>
            <a:ext cx="402336" cy="40233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709160" y="274320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3238"/>
                </a:solidFill>
              </a:rPr>
              <a:t>Manajemen Data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4709160" y="3145536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CRUD data terintegrasi Google Sheets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766560" y="1965960"/>
            <a:ext cx="1993392" cy="2560320"/>
          </a:xfrm>
          <a:prstGeom prst="rect">
            <a:avLst/>
          </a:prstGeom>
          <a:solidFill>
            <a:srgbClr val="FFFDE7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6766560" y="1965960"/>
            <a:ext cx="1993392" cy="54864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7525512" y="2148840"/>
            <a:ext cx="475488" cy="475488"/>
          </a:xfrm>
          <a:prstGeom prst="ellipse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2185416"/>
            <a:ext cx="402336" cy="40233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858000" y="274320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3238"/>
                </a:solidFill>
              </a:rPr>
              <a:t>Sinkronisasi API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6858000" y="3145536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Integrasi real-time dengan Kemenkop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01 — Pengguna &amp; Teknologi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D8DC"/>
                </a:solidFill>
              </a:rPr>
              <a:t>5/28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</a:rPr>
              <a:t>Dashboard Koperasi Desa/Kelurahan Merah Putih — Sulawesi Tenggara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6858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238"/>
                </a:solidFill>
              </a:rPr>
              <a:t>Jenis Pengguna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1170432"/>
            <a:ext cx="4023360" cy="1353312"/>
          </a:xfrm>
          <a:prstGeom prst="rect">
            <a:avLst/>
          </a:prstGeom>
          <a:solidFill>
            <a:srgbClr val="E3F2FD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1353312"/>
            <a:ext cx="530352" cy="5303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99032"/>
            <a:ext cx="438912" cy="4389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88720" y="13075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Pengguna Umum (Guest)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88720" y="162763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Lihat peta, statistik, export Excel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" y="2679192"/>
            <a:ext cx="4023360" cy="1353312"/>
          </a:xfrm>
          <a:prstGeom prst="rect">
            <a:avLst/>
          </a:prstGeom>
          <a:solidFill>
            <a:srgbClr val="FFF5F5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02920" y="2862072"/>
            <a:ext cx="530352" cy="53035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907792"/>
            <a:ext cx="438912" cy="4389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88720" y="28163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Administrator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188720" y="313639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Semua akses + edit/hapus/tambah data, sinkronisasi API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572000" y="548640"/>
            <a:ext cx="4251960" cy="425196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663440" y="685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</a:rPr>
              <a:t>Teknologi yang Digunakan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709160" y="11704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📍  Peta Interaktif    →  Leaflet.js + OpenStreetMap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709160" y="15544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📊  Grafik &amp; Chart     →  Chart.js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709160" y="19385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💾  Basis Data         →  Google Sheets / Apps Script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709160" y="232257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📤  Export Excel       →  SheetJS (XLSX)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709160" y="270662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🎨  UI Framework       →  Tailwind CSS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709160" y="30906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🔔  Notifikasi          →  SweetAlert2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709160" y="34747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↕️   Drag &amp; Drop        →  SortableJS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4709160" y="38587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🔗  API Sinkronisasi   →  Kemenkop (merahputih.kop.id)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E53935">
                    <a:alpha val="40000"/>
                  </a:srgbClr>
                </a:solidFill>
              </a:rPr>
              <a:t>02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365760" y="201168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Navigasi Umum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90A4AE"/>
                </a:solidFill>
              </a:rPr>
              <a:t>Layout, sidebar, header, dan struktur halaman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02 — Navigasi &amp; Layout Aplikasi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D8DC"/>
                </a:solidFill>
              </a:rPr>
              <a:t>7/28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</a:rPr>
              <a:t>Dashboard Koperasi Desa/Kelurahan Merah Putih — Sulawesi Tenggara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238"/>
                </a:solidFill>
              </a:rPr>
              <a:t>Struktur tata letak (layout) aplikasi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1143000"/>
            <a:ext cx="4572000" cy="3474720"/>
          </a:xfrm>
          <a:prstGeom prst="rect">
            <a:avLst/>
          </a:prstGeom>
          <a:solidFill>
            <a:srgbClr val="E8EDF2"/>
          </a:solidFill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188720"/>
            <a:ext cx="4480560" cy="33832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📷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0040" y="2953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[ Tangkapan Layar — Layout Halaman Utama 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1752" y="1124712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37176" y="1124712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01752" y="4562856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37176" y="4562856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74920" y="1170432"/>
            <a:ext cx="3749040" cy="713232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66360" y="120700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🔴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23560" y="1188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Header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23560" y="1463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Logo, nama app, badge Admin, tombol refresh/statistik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74920" y="1993392"/>
            <a:ext cx="3749040" cy="713232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66360" y="202996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23560" y="2011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Sidebar Kiri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23560" y="22860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Menu navigasi: Peta, Statistik, Basis Data, Login/Logout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74920" y="2816352"/>
            <a:ext cx="3749040" cy="713232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66360" y="285292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23560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Area Konten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23560" y="3108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Peta interaktif + tabel data koperasi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74920" y="3639312"/>
            <a:ext cx="3749040" cy="713232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66360" y="367588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⚫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623560" y="3657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Tombol ≡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23560" y="3931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Buka/tutup sidebar (hamburger menu)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56632" y="43251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</a:rPr>
              <a:t>4 Halaman Utama: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56632" y="45034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63238"/>
                </a:solidFill>
              </a:rPr>
              <a:t>1. index.html   — Peta Persebaran
2. statistik.html — Dashboard Statistik
3. database.html — Kelola Basis Data (Admin)
4. login.html   — Login Administrator</a:t>
            </a:r>
            <a:endParaRPr lang="en-US" sz="9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9479667-C9CD-1F0C-D498-42488BD37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43000"/>
            <a:ext cx="4526280" cy="34413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E53935">
                    <a:alpha val="40000"/>
                  </a:srgbClr>
                </a:solidFill>
              </a:rPr>
              <a:t>03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365760" y="201168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Halaman Peta Persebaran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90A4AE"/>
                </a:solidFill>
              </a:rPr>
              <a:t>index.html — Fitur peta interaktif dan tabel data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03 — Peta Persebaran: Tampilan Utama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D8DC"/>
                </a:solidFill>
              </a:rPr>
              <a:t>9/28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</a:rPr>
              <a:t>Dashboard Koperasi Desa/Kelurahan Merah Putih — Sulawesi Tenggara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238"/>
                </a:solidFill>
              </a:rPr>
              <a:t>Komponen utama halaman Peta Persebaran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5303520" cy="3657600"/>
          </a:xfrm>
          <a:prstGeom prst="rect">
            <a:avLst/>
          </a:prstGeom>
          <a:solidFill>
            <a:srgbClr val="E8EDF2"/>
          </a:solidFill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5212080" cy="35661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606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📷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0040" y="29992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[ Tangkapan Layar — Halaman Peta Persebaran Lengkap 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1752" y="1078992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568696" y="1078992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01752" y="4700016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568696" y="4700016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806440" y="1115568"/>
            <a:ext cx="301752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806440" y="1115568"/>
            <a:ext cx="384048" cy="5943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06440" y="1115568"/>
            <a:ext cx="3840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11704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</a:rPr>
              <a:t>Peta Interaktif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1399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Area peta utama dengan marker koperasi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806440" y="1819656"/>
            <a:ext cx="301752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806440" y="1819656"/>
            <a:ext cx="384048" cy="5943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06440" y="1819656"/>
            <a:ext cx="3840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63640" y="18745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</a:rPr>
              <a:t>Floating Buttons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2103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Tombol lokasi saya &amp; cek GPS (Admin)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806440" y="2523744"/>
            <a:ext cx="301752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806440" y="2523744"/>
            <a:ext cx="384048" cy="5943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806440" y="2523744"/>
            <a:ext cx="3840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63640" y="25786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</a:rPr>
              <a:t>Panel Info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28072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Detail koperasi saat marker diklik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806440" y="3227832"/>
            <a:ext cx="301752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806440" y="3227832"/>
            <a:ext cx="384048" cy="5943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806440" y="3227832"/>
            <a:ext cx="3840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63640" y="328269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</a:rPr>
              <a:t>Tabel Data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351129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Daftar koperasi + filter + pencarian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806440" y="3931920"/>
            <a:ext cx="301752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806440" y="3931920"/>
            <a:ext cx="384048" cy="5943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806440" y="3931920"/>
            <a:ext cx="3840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263640" y="398678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</a:rPr>
              <a:t>Resizer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63640" y="421538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Geser untuk ubah proporsi peta/tabel</a:t>
            </a:r>
            <a:endParaRPr lang="en-US" sz="95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9D639933-A2D8-7C78-4464-92EE3CA1F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087585"/>
            <a:ext cx="5239512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03 — Marker &amp; Basemap Peta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D8DC"/>
                </a:solidFill>
              </a:rPr>
              <a:t>10/28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</a:rPr>
              <a:t>Dashboard Koperasi Desa/Kelurahan Merah Putih — Sulawesi Tenggara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238"/>
                </a:solidFill>
              </a:rPr>
              <a:t>Jenis marker dan pilihan basemap yang tersedia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Marker Koperasi di Peta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554480"/>
            <a:ext cx="4114800" cy="73152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700784"/>
            <a:ext cx="438912" cy="43891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1560" y="16733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Lingkaran HIJAU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19202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Koperasi berstatus Aktif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423160"/>
            <a:ext cx="4114800" cy="73152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2569464"/>
            <a:ext cx="438912" cy="43891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51560" y="2542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Lingkaran MERAH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7889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Koperasi berstatus Tidak Aktif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337560"/>
            <a:ext cx="4114800" cy="1371600"/>
          </a:xfrm>
          <a:prstGeom prst="rect">
            <a:avLst/>
          </a:prstGeom>
          <a:solidFill>
            <a:srgbClr val="E8EDF2"/>
          </a:solidFill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402336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3703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📷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20040" y="40965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[ Tangkapan Layar — Contoh Marker di Peta 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01752" y="3319272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79976" y="3319272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01752" y="4654296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379976" y="4654296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6344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Pilihan Basemap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1554480"/>
            <a:ext cx="411480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54880" y="16184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Open Street Map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189280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Default — Peta jalan detail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2359152"/>
            <a:ext cx="4114800" cy="685800"/>
          </a:xfrm>
          <a:prstGeom prst="rect">
            <a:avLst/>
          </a:prstGeom>
          <a:solidFill>
            <a:srgbClr val="FFF8E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Google Satellite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26974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Citra satelit resolusi tinggi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3163824"/>
            <a:ext cx="4114800" cy="685800"/>
          </a:xfrm>
          <a:prstGeom prst="rect">
            <a:avLst/>
          </a:prstGeom>
          <a:solidFill>
            <a:srgbClr val="E3F2FD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0" y="32278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Google Terrain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54880" y="35021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Topografi &amp; kontur wilayah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63440" y="3968496"/>
            <a:ext cx="4114800" cy="685800"/>
          </a:xfrm>
          <a:prstGeom prst="rect">
            <a:avLst/>
          </a:prstGeom>
          <a:solidFill>
            <a:srgbClr val="F3E5F5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54880" y="40325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ESRI World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54880" y="430682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Alternatif citra satelit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663440" y="3337560"/>
            <a:ext cx="4114800" cy="1371600"/>
          </a:xfrm>
          <a:prstGeom prst="rect">
            <a:avLst/>
          </a:prstGeom>
          <a:solidFill>
            <a:srgbClr val="E8EDF2"/>
          </a:solidFill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09160" y="3383280"/>
            <a:ext cx="402336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63440" y="3703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📷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4663440" y="40965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[ Tangkapan Layar — Kontrol Layer / Basemap ]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45152" y="3319272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723376" y="3319272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645152" y="4654296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723376" y="4654296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A7F35CF1-D5AB-B590-7A72-11EA878BA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09" y="3401568"/>
            <a:ext cx="1927951" cy="1200932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973353AE-B729-0871-41AE-721706035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4331" y="3444765"/>
            <a:ext cx="2495898" cy="115718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4E5AF978-CFCD-35AD-0127-14927CCC6E7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995" t="33839" r="29170" b="14223"/>
          <a:stretch>
            <a:fillRect/>
          </a:stretch>
        </p:blipFill>
        <p:spPr>
          <a:xfrm>
            <a:off x="2423160" y="3355848"/>
            <a:ext cx="1825825" cy="12705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03 — Filter &amp; Pencarian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D8DC"/>
                </a:solidFill>
              </a:rPr>
              <a:t>11/28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</a:rPr>
              <a:t>Dashboard Koperasi Desa/Kelurahan Merah Putih — Sulawesi Tenggara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238"/>
                </a:solidFill>
              </a:rPr>
              <a:t>Cara memfilter dan mencari data koperasi di tabel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8503920" cy="1371600"/>
          </a:xfrm>
          <a:prstGeom prst="rect">
            <a:avLst/>
          </a:prstGeom>
          <a:solidFill>
            <a:srgbClr val="E8EDF2"/>
          </a:solidFill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841248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4630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📷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0040" y="18562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[ Tangkapan Layar — Area Filter dan Pencarian Tabel 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1752" y="1078992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769096" y="1078992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01752" y="2414016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769096" y="2414016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2606040"/>
            <a:ext cx="4160520" cy="64008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26060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2697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Kotak Pencarian Teks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29535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Cari berdasarkan nama koperasi, desa, NIK, atau pengurus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355848"/>
            <a:ext cx="4160520" cy="64008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3355848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🏙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34472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Dropdown Kabupaten/Kota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7033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Persempit tampilan ke satu kabupaten. Peta otomatis zoom ke area tersebut.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105656"/>
            <a:ext cx="4160520" cy="64008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4105656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🗺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41970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Dropdown Kecamatan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4531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Aktif setelah memilih Kabupaten. Batas kecamatan tampil di peta.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2606040"/>
            <a:ext cx="4160520" cy="64008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09160" y="26060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🏘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12080" y="2697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Dropdown Desa/Kelurahan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12080" y="29535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Aktif setelah memilih Kecamatan.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3355848"/>
            <a:ext cx="4160520" cy="64008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09160" y="3355848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🏷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212080" y="34472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Filter Kategori (Lanjutan)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12080" y="37033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Filter berdasarkan Status Operasional, Unit Gerai, atau Tingkat Kesehatan</a:t>
            </a:r>
            <a:endParaRPr lang="en-US" sz="10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63A2740-55C3-79A5-AE8A-6F2DDED221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258" b="43334"/>
          <a:stretch>
            <a:fillRect/>
          </a:stretch>
        </p:blipFill>
        <p:spPr>
          <a:xfrm>
            <a:off x="320040" y="1261052"/>
            <a:ext cx="8412480" cy="10440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03 — Atur Kolom &amp; Ekspor Excel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D8DC"/>
                </a:solidFill>
              </a:rPr>
              <a:t>12/28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</a:rPr>
              <a:t>Dashboard Koperasi Desa/Kelurahan Merah Putih — Sulawesi Tenggara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238"/>
                </a:solidFill>
              </a:rPr>
              <a:t>Mengatur tampilan kolom dan mengekspor 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</a:rPr>
              <a:t>Mengatur Kolom Tabel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572768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5727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157276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</a:rPr>
              <a:t>Klik tombol 'Kolom' di area kontrol tabel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139696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1396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13969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</a:rPr>
              <a:t>Menu popup daftar kolom akan terbuka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706624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706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70662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</a:rPr>
              <a:t>✔ Centang kolom yang ingin ditampilkan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2735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327355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</a:rPr>
              <a:t>✘ Hapus centang untuk menyembunyikan kolom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840480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840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95528" y="3909335"/>
            <a:ext cx="3611880" cy="1916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</a:rPr>
              <a:t>⠿ Seret (drag) handle ⠿ untuk ubah urutan kolom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" y="4192249"/>
            <a:ext cx="4114800" cy="731520"/>
          </a:xfrm>
          <a:prstGeom prst="rect">
            <a:avLst/>
          </a:prstGeom>
          <a:solidFill>
            <a:srgbClr val="E8EDF2"/>
          </a:solidFill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93192" y="4237969"/>
            <a:ext cx="402336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" y="4237969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📷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47472" y="4631161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[ Tangkapan Layar — Menu Pengaturan Kolom ]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" y="4173961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07408" y="4173961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9184" y="4868905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407408" y="4868905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6344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</a:rPr>
              <a:t>Ekspor Data ke Excel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663440" y="1554480"/>
            <a:ext cx="4114800" cy="1463040"/>
          </a:xfrm>
          <a:prstGeom prst="rect">
            <a:avLst/>
          </a:prstGeom>
          <a:solidFill>
            <a:srgbClr val="E8F5E9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029200" y="178308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828800"/>
            <a:ext cx="548640" cy="54864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5760720" y="16642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Tombol 'Ekspor Excel'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5760720" y="20116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Klik tombol hijau 'Ekspor Excel' untuk mengunduh semua data yang saat ini ditampilkan/difilter ke dalam file .xlsx.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663440" y="3154680"/>
            <a:ext cx="4114800" cy="960120"/>
          </a:xfrm>
          <a:prstGeom prst="rect">
            <a:avLst/>
          </a:prstGeom>
          <a:solidFill>
            <a:srgbClr val="FFFDE7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800600" y="3246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7F17"/>
                </a:solidFill>
              </a:rPr>
              <a:t>💡  Tips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4800600" y="35478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Filter data terlebih dahulu sebelum ekspor agar file Excel hanya berisi data yang relevan untuk kebutuhan laporan Anda.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663440" y="4187952"/>
            <a:ext cx="4114800" cy="566928"/>
          </a:xfrm>
          <a:prstGeom prst="rect">
            <a:avLst/>
          </a:prstGeom>
          <a:solidFill>
            <a:srgbClr val="E8EDF2"/>
          </a:solidFill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4709160" y="4233672"/>
            <a:ext cx="402336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4663440" y="415137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📷</a:t>
            </a:r>
            <a:endParaRPr lang="en-US" sz="2000" dirty="0"/>
          </a:p>
        </p:txBody>
      </p:sp>
      <p:sp>
        <p:nvSpPr>
          <p:cNvPr id="45" name="Text 42"/>
          <p:cNvSpPr/>
          <p:nvPr/>
        </p:nvSpPr>
        <p:spPr>
          <a:xfrm>
            <a:off x="4663440" y="45445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[ Tangkapan Layar — Tombol Ekspor Excel ]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4645152" y="4169664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8723376" y="4169664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4645152" y="4700016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8723376" y="4700016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BE673850-1423-DB76-D57F-41B2FD81A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873" y="4233562"/>
            <a:ext cx="2489811" cy="684029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25F132FE-1C77-AC83-2C68-103CD2E538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5241" y="4157047"/>
            <a:ext cx="2321479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E53935">
                    <a:alpha val="40000"/>
                  </a:srgbClr>
                </a:solidFill>
              </a:rPr>
              <a:t>04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365760" y="201168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Panel Info Koperasi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90A4AE"/>
                </a:solidFill>
              </a:rPr>
              <a:t>Detail koperasi, foto, dan navigasi Google Maps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04 — Panel Info Koperasi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D8DC"/>
                </a:solidFill>
              </a:rPr>
              <a:t>14/28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</a:rPr>
              <a:t>Dashboard Koperasi Desa/Kelurahan Merah Putih — Sulawesi Tenggara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238"/>
                </a:solidFill>
              </a:rPr>
              <a:t>Panel detail muncul saat marker atau baris tabel diklik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3200400" cy="3657600"/>
          </a:xfrm>
          <a:prstGeom prst="rect">
            <a:avLst/>
          </a:prstGeom>
          <a:solidFill>
            <a:srgbClr val="E8EDF2"/>
          </a:solidFill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3108960" cy="35661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📷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0040" y="29992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[ Tangkapan Layar — Panel Info Koperasi 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1752" y="1078992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65576" y="1078992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01752" y="4700016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65576" y="4700016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4904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</a:rPr>
              <a:t>Kontrol Panel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49040" y="1600200"/>
            <a:ext cx="5029200" cy="68580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86200" y="173736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8620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✎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07408" y="1700784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Tombol Edit (Pensil)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07408" y="1956816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Masuk Mode Edit data (Admin only)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49040" y="2423160"/>
            <a:ext cx="5029200" cy="68580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886200" y="2560320"/>
            <a:ext cx="411480" cy="411480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8620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07408" y="2523744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Tombol Minimize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07408" y="2779776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Ciutkan/luaskan panel info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749040" y="3246120"/>
            <a:ext cx="5029200" cy="68580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886200" y="3383280"/>
            <a:ext cx="411480" cy="4114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8620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407408" y="3346704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Tombol Tutup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407408" y="3602736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Tutup panel info koperasi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49040" y="3961115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Panel menampilkan: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75888" y="4259341"/>
            <a:ext cx="5029200" cy="7452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• Foto slider koperasi (klik foto = fullscreen)
• Status operasional, alamat, wilayah
• NIK, SK AHU, Jenis, Pengurus, Pengawas
• Jumlah anggota, sektor usaha, gerai, kesehatan
• Tautan Rute Google Maps (jika ada koordinat)</a:t>
            </a:r>
            <a:endParaRPr lang="en-US" sz="11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846BCF1-CEFD-BDE2-5873-6A1D47AE5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38" y="1115568"/>
            <a:ext cx="3086482" cy="35844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E53935">
                    <a:alpha val="40000"/>
                  </a:srgbClr>
                </a:solidFill>
              </a:rPr>
              <a:t>05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365760" y="201168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Dashboard Statistik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90A4AE"/>
                </a:solidFill>
              </a:rPr>
              <a:t>statistik.html — KPI, grafik, dan filter wilayah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05 — Dashboard Statistik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D8DC"/>
                </a:solidFill>
              </a:rPr>
              <a:t>16/28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</a:rPr>
              <a:t>Dashboard Koperasi Desa/Kelurahan Merah Putih — Sulawesi Tenggara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238"/>
                </a:solidFill>
              </a:rPr>
              <a:t>Visualisasi data koperasi dalam grafik dan kartu KPI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8503920" cy="1828800"/>
          </a:xfrm>
          <a:prstGeom prst="rect">
            <a:avLst/>
          </a:prstGeom>
          <a:solidFill>
            <a:srgbClr val="E8EDF2"/>
          </a:solidFill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8412480" cy="1737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6916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📷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0040" y="20848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[ Tangkapan Layar — Dashboard Statistik (Tampilan Penuh) 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1752" y="1078992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769096" y="1078992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01752" y="2871216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769096" y="2871216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304495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4 Kartu KPI: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3429000"/>
            <a:ext cx="1993392" cy="137160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3429000"/>
            <a:ext cx="1993392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3566160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88E5"/>
                </a:solidFill>
              </a:rPr>
              <a:t>99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320040" y="416052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238"/>
                </a:solidFill>
              </a:rPr>
              <a:t>Total Koperasi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462272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Jumlah total koperasi sesuai filter aktif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68880" y="3429000"/>
            <a:ext cx="1993392" cy="137160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468880" y="3429000"/>
            <a:ext cx="1993392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468880" y="3566160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</a:rPr>
              <a:t>99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2468880" y="416052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238"/>
                </a:solidFill>
              </a:rPr>
              <a:t>Koperasi Aktif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60320" y="4462272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Koperasi dengan status Aktif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3429000"/>
            <a:ext cx="1993392" cy="137160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17720" y="3429000"/>
            <a:ext cx="1993392" cy="640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17720" y="3566160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62828"/>
                </a:solidFill>
              </a:rPr>
              <a:t>99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4617720" y="416052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238"/>
                </a:solidFill>
              </a:rPr>
              <a:t>Tidak Aktif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9160" y="4462272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Koperasi dengan status Tidak Aktif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66560" y="3429000"/>
            <a:ext cx="1993392" cy="137160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766560" y="3429000"/>
            <a:ext cx="1993392" cy="6400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66560" y="3566160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7F17"/>
                </a:solidFill>
              </a:rPr>
              <a:t>99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6766560" y="416052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238"/>
                </a:solidFill>
              </a:rPr>
              <a:t>Telah RAT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58000" y="4462272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RAT pada tahun terakhir / berjalan</a:t>
            </a:r>
            <a:endParaRPr lang="en-US" sz="9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EC21E77E-3F8F-3846-03E5-BC197E4578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00" r="1928"/>
          <a:stretch>
            <a:fillRect/>
          </a:stretch>
        </p:blipFill>
        <p:spPr>
          <a:xfrm>
            <a:off x="353311" y="1098492"/>
            <a:ext cx="8439912" cy="179322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05 — Jenis Grafik &amp; Filter Wilayah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D8DC"/>
                </a:solidFill>
              </a:rPr>
              <a:t>17/28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</a:rPr>
              <a:t>Dashboard Koperasi Desa/Kelurahan Merah Putih — Sulawesi Tenggara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</a:rPr>
              <a:t>Tiga jenis grafik tersedia, semuanya responsif terhadap filter wilayah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143000"/>
            <a:ext cx="5029200" cy="932688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143000"/>
            <a:ext cx="73152" cy="93268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121615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Grafik Batang Wilayah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15087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Sebaran koperasi per Kabupaten/Kota. Jika filter Kabupaten aktif → berubah ke sebaran per Kecamatan.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21992"/>
            <a:ext cx="5029200" cy="932688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221992"/>
            <a:ext cx="73152" cy="9326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229514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Grafik Donat Status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258775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Proporsi koperasi Aktif vs Tidak Aktif.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300984"/>
            <a:ext cx="5029200" cy="932688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300984"/>
            <a:ext cx="73152" cy="93268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" y="337413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Grafik Pie Kesehatan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" y="366674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Distribusi koperasi berdasarkan kategori penilaian kesehatan.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343400"/>
            <a:ext cx="5029200" cy="502920"/>
          </a:xfrm>
          <a:prstGeom prst="rect">
            <a:avLst/>
          </a:prstGeom>
          <a:solidFill>
            <a:srgbClr val="E8EDF2"/>
          </a:solidFill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4389120"/>
            <a:ext cx="49377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42748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📷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20040" y="46680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[ Tangkapan Layar — Contoh Grafik Statistik ]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01752" y="4325112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294376" y="4325112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01752" y="4791456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294376" y="4791456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577840" y="1143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</a:rPr>
              <a:t>Filter Wilayah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577840" y="1572768"/>
            <a:ext cx="3200400" cy="2926080"/>
          </a:xfrm>
          <a:prstGeom prst="rect">
            <a:avLst/>
          </a:prstGeom>
          <a:solidFill>
            <a:srgbClr val="E3F2FD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669280" y="1691640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669280" y="1691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26480" y="16916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</a:rPr>
              <a:t>Pilih Kabupaten/Kota dari dropdown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69280" y="2313432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669280" y="23134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126480" y="231343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</a:rPr>
              <a:t>Pilih Kecamatan (opsional)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669280" y="2935224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669280" y="29352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26480" y="293522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</a:rPr>
              <a:t>Semua KPI &amp; grafik otomatis diperbarui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9280" y="3557016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669280" y="35570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126480" y="355701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</a:rPr>
              <a:t>Klik tombol 'Reset' untuk hapus filter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577840" y="4572000"/>
            <a:ext cx="3200400" cy="411480"/>
          </a:xfrm>
          <a:prstGeom prst="rect">
            <a:avLst/>
          </a:prstGeom>
          <a:solidFill>
            <a:srgbClr val="FFFDE7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669280" y="4617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3238"/>
                </a:solidFill>
              </a:rPr>
              <a:t>💡  Angka KPI menggunakan animasi counter saat diperbarui.</a:t>
            </a:r>
            <a:endParaRPr lang="en-US" sz="10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DF789603-54E2-A612-4A2B-D74797AB5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1" y="4370832"/>
            <a:ext cx="4937760" cy="4937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E53935">
                    <a:alpha val="40000"/>
                  </a:srgbClr>
                </a:solidFill>
              </a:rPr>
              <a:t>06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365760" y="201168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Login Administrator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90A4AE"/>
                </a:solidFill>
              </a:rPr>
              <a:t>login.html — Autentikasi dan hak akses admin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06 — Cara Login sebagai Administrator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D8DC"/>
                </a:solidFill>
              </a:rPr>
              <a:t>19/28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</a:rPr>
              <a:t>Dashboard Koperasi Desa/Kelurahan Merah Putih — Sulawesi Tenggara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238"/>
                </a:solidFill>
              </a:rPr>
              <a:t>Panduan langkah demi langkah untuk login admin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3474720" cy="3474720"/>
          </a:xfrm>
          <a:prstGeom prst="rect">
            <a:avLst/>
          </a:prstGeom>
          <a:solidFill>
            <a:srgbClr val="E8EDF2"/>
          </a:solidFill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3383280" cy="33832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514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📷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0040" y="29077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[ Tangkapan Layar — Halaman Login Admin 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1752" y="1078992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39896" y="1078992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01752" y="4517136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39896" y="4517136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23360" y="1097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</a:rPr>
              <a:t>Langkah Login: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023360" y="1600200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023360" y="1600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160020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</a:rPr>
              <a:t>Klik menu 'Login Admin' di sidebar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23360" y="2185416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023360" y="21854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80560" y="2185416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</a:rPr>
              <a:t>Anda diarahkan ke halaman login.html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023360" y="2770632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023360" y="27706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80560" y="2770632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</a:rPr>
              <a:t>Masukkan Username dan Password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023360" y="3355848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023360" y="3355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80560" y="3355848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</a:rPr>
              <a:t>Klik tombol 'Masuk Sistem'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023360" y="3941064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023360" y="39410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480560" y="3941064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</a:rPr>
              <a:t>Notifikasi sukses → redirect ke index.html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023360" y="4434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</a:rPr>
              <a:t>Indikator Mode Admin aktif: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71616" y="38862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🟠  Badge 'ADMIN' oranye di header
📂  Menu 'Kelola Basis Data' muncul di sidebar
✏️   Ikon edit (pensil) di Panel Info koperasi
📡  Tombol cek GPS akurasi tinggi di peta</a:t>
            </a:r>
            <a:endParaRPr lang="en-US" sz="11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0134260-AF77-48AE-A93E-8F32DDA86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05" y="1137603"/>
            <a:ext cx="3390771" cy="336124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E53935">
                    <a:alpha val="40000"/>
                  </a:srgbClr>
                </a:solidFill>
              </a:rPr>
              <a:t>07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365760" y="201168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Kelola Basis Data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90A4AE"/>
                </a:solidFill>
              </a:rPr>
              <a:t>database.html — Tambah, edit, hapus, &amp; upload foto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07 — Tampilan Halaman Kelola Basis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D8DC"/>
                </a:solidFill>
              </a:rPr>
              <a:t>21/28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</a:rPr>
              <a:t>Dashboard Koperasi Desa/Kelurahan Merah Putih — Sulawesi Tenggara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238"/>
                </a:solidFill>
              </a:rPr>
              <a:t>Manajemen data koperasi secara terpusat (khusus Admin)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8503920" cy="1828800"/>
          </a:xfrm>
          <a:prstGeom prst="rect">
            <a:avLst/>
          </a:prstGeom>
          <a:solidFill>
            <a:srgbClr val="E8EDF2"/>
          </a:solidFill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8412480" cy="1737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6916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📷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0040" y="20848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[ Tangkapan Layar — Halaman Kelola Basis Data 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1752" y="1078992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769096" y="1078992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01752" y="2871216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769096" y="2871216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4160520" cy="731520"/>
          </a:xfrm>
          <a:prstGeom prst="rect">
            <a:avLst/>
          </a:prstGeom>
          <a:solidFill>
            <a:srgbClr val="FFF5F5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9768" y="3209544"/>
            <a:ext cx="438912" cy="43891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36976"/>
            <a:ext cx="384048" cy="38404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005840" y="3154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+ Tambah Baru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05840" y="34472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Klik tombol merah '+ Tambah Koperasi Baru' di bagian atas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20040" y="3931920"/>
            <a:ext cx="4160520" cy="73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29768" y="4078224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05656"/>
            <a:ext cx="384048" cy="38404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05840" y="4023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✏ Edit Data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005840" y="43159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Klik tombol biru 'Edit' pada baris koperasi di tabel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617720" y="3063240"/>
            <a:ext cx="4160520" cy="731520"/>
          </a:xfrm>
          <a:prstGeom prst="rect">
            <a:avLst/>
          </a:prstGeom>
          <a:solidFill>
            <a:srgbClr val="FFF5F5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4727448" y="3209544"/>
            <a:ext cx="438912" cy="43891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236976"/>
            <a:ext cx="384048" cy="38404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303520" y="3154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🗑 Hapus Data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5303520" y="34472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Klik tombol merah 'Hapus', konfirmasi dialog hapus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4617720" y="3931920"/>
            <a:ext cx="4160520" cy="73152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4727448" y="4078224"/>
            <a:ext cx="438912" cy="438912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105656"/>
            <a:ext cx="384048" cy="38404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303520" y="4023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🔍 Cari Koperasi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5303520" y="43159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Ketik di kotak pencarian: nama, NIK, desa, kecamatan</a:t>
            </a:r>
            <a:endParaRPr lang="en-US" sz="105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70DAFA22-69F3-AA46-B44C-25CC9D3F0F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1164925"/>
            <a:ext cx="8403336" cy="170629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07 — Form Tambah / Edit Koperasi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D8DC"/>
                </a:solidFill>
              </a:rPr>
              <a:t>22/28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</a:rPr>
              <a:t>Dashboard Koperasi Desa/Kelurahan Merah Putih — Sulawesi Tenggara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</a:rPr>
              <a:t>Modal form pop-up untuk menambah atau mengedit data koperasi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5029200" cy="3566160"/>
          </a:xfrm>
          <a:prstGeom prst="rect">
            <a:avLst/>
          </a:prstGeom>
          <a:solidFill>
            <a:srgbClr val="E8EDF2"/>
          </a:solidFill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4937760" cy="34747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560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📷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0040" y="29535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[ Tangkapan Layar — Form Pop-up Tambah/Edit Koperasi 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1752" y="1078992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294376" y="1078992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01752" y="4608576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94376" y="4608576"/>
            <a:ext cx="73152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577840" y="1115568"/>
            <a:ext cx="3200400" cy="713232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577840" y="1115568"/>
            <a:ext cx="54864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24144" y="1179576"/>
            <a:ext cx="29809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</a:rPr>
              <a:t>Informasi Utama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24144" y="1426464"/>
            <a:ext cx="2980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Nama, NIK, Status, URL, Alamat, Desa, Kecamatan, Kab/Kota, Kode Pos, SK AHU, Jenis, Th. Pendirian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77840" y="1956816"/>
            <a:ext cx="3200400" cy="713232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577840" y="1956816"/>
            <a:ext cx="54864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724144" y="2020824"/>
            <a:ext cx="29809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</a:rPr>
              <a:t>Informasi Tambahan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24144" y="2267712"/>
            <a:ext cx="2980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Pengurus, Pengawas, Jumlah Anggota, Sektor Usaha, Unit Gerai, Tingkat Kesehatan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77840" y="2798064"/>
            <a:ext cx="3200400" cy="713232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577840" y="2798064"/>
            <a:ext cx="54864" cy="7132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724144" y="2862072"/>
            <a:ext cx="29809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</a:rPr>
              <a:t>Titik Lokasi Peta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24144" y="3108960"/>
            <a:ext cx="2980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Latitude (Y) &amp; Longitude (X) — isi manual atau klik mini-peta di form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77840" y="3639312"/>
            <a:ext cx="3200400" cy="713232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577840" y="3639312"/>
            <a:ext cx="54864" cy="71323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724144" y="3703320"/>
            <a:ext cx="29809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</a:rPr>
              <a:t>Foto Koperasi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24144" y="3950208"/>
            <a:ext cx="2980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Upload file baru atau isi tautan URL foto (pisahkan dengan koma)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577840" y="4572000"/>
            <a:ext cx="3200400" cy="320040"/>
          </a:xfrm>
          <a:prstGeom prst="rect">
            <a:avLst/>
          </a:prstGeom>
          <a:solidFill>
            <a:srgbClr val="FFF5F5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669280" y="459943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62828"/>
                </a:solidFill>
              </a:rPr>
              <a:t>⚠  Hapus data bersifat permanen dan tidak dapat dibatalkan.</a:t>
            </a:r>
            <a:endParaRPr lang="en-US" sz="9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B707EBF-8EFB-F9EC-77EF-A37D8C555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86087"/>
            <a:ext cx="4983480" cy="298854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E53935">
                    <a:alpha val="40000"/>
                  </a:srgbClr>
                </a:solidFill>
              </a:rPr>
              <a:t>08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365760" y="201168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Sinkronisasi API Kemenkop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90A4AE"/>
                </a:solidFill>
              </a:rPr>
              <a:t>Menarik data otomatis dari sistem nasional Kemenkop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08 — Sinkronisasi Data dari API Kemenkop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D8DC"/>
                </a:solidFill>
              </a:rPr>
              <a:t>24/28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</a:rPr>
              <a:t>Dashboard Koperasi Desa/Kelurahan Merah Putih — Sulawesi Tenggara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238"/>
                </a:solidFill>
              </a:rPr>
              <a:t>Tarik data terkini dari sistem Kemenkop dengan sekali klik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Langkah sinkronisasi: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554480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554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155448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</a:rPr>
              <a:t>Di tabel Kelola Basis Data, klik nama koperasi yang bergaris bawah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084832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0848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08483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</a:rPr>
              <a:t>Modal Viewer API terbuka, data ditarik otomatis dari server Kemenkop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615184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615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61518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</a:rPr>
              <a:t>Periksa data: info utama, foto, peta lokasi, tabel manajemen/anggota/outlet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145536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1455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314553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</a:rPr>
              <a:t>Klik tombol hijau 'Gunakan Data Ini ke Form'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675888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6758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367588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</a:rPr>
              <a:t>Form edit terbuka — 5 field sudah terisi otomatis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206240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4206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420624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</a:rPr>
              <a:t>Periksa dan simpan data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10972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Data yang ditarik otomatis: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1554480"/>
            <a:ext cx="4023360" cy="521208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64608" y="1664208"/>
            <a:ext cx="310896" cy="310896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64608" y="16642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✔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57800" y="1645920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Kode Pos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57800" y="1892808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Dari field postal_code API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176272"/>
            <a:ext cx="4023360" cy="521208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64608" y="2286000"/>
            <a:ext cx="310896" cy="31089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64608" y="2286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✔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57800" y="2267712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Nama Pengurus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57800" y="251460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Managements dengan status PENGURUS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2798064"/>
            <a:ext cx="4023360" cy="521208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64608" y="2907792"/>
            <a:ext cx="310896" cy="31089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64608" y="29077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✔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57800" y="2889504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Nama Pengawas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57800" y="3136392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Managements dengan status PENGAWAS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54880" y="3419856"/>
            <a:ext cx="4023360" cy="521208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64608" y="3529584"/>
            <a:ext cx="310896" cy="310896"/>
          </a:xfrm>
          <a:prstGeom prst="ellipse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64608" y="35295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✔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257800" y="3511296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Jumlah Anggota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257800" y="3758184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Dihitung dari jumlah entri members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54880" y="4041648"/>
            <a:ext cx="4023360" cy="521208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864608" y="4151376"/>
            <a:ext cx="310896" cy="31089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64608" y="41513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✔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257800" y="4133088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Unit Gerai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257800" y="4379976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Dihitung dari jumlah entri outlets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ED8919-BD62-34E8-981A-111E95D35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>
            <a:extLst>
              <a:ext uri="{FF2B5EF4-FFF2-40B4-BE49-F238E27FC236}">
                <a16:creationId xmlns:a16="http://schemas.microsoft.com/office/drawing/2014/main" id="{D893DD9B-8985-EAD6-8B02-8AC227831AAA}"/>
              </a:ext>
            </a:extLst>
          </p:cNvPr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2ED6909-F7DE-D15B-72BF-0D265CC481A0}"/>
              </a:ext>
            </a:extLst>
          </p:cNvPr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</a:rPr>
              <a:t>Dashboard Koperasi Desa/Kelurahan Merah Putih — Sulawesi Tenggara</a:t>
            </a:r>
            <a:endParaRPr lang="en-US" sz="800" dirty="0"/>
          </a:p>
        </p:txBody>
      </p:sp>
      <p:sp>
        <p:nvSpPr>
          <p:cNvPr id="33" name="Shape 0">
            <a:extLst>
              <a:ext uri="{FF2B5EF4-FFF2-40B4-BE49-F238E27FC236}">
                <a16:creationId xmlns:a16="http://schemas.microsoft.com/office/drawing/2014/main" id="{4B3C99D8-9394-B343-3CD2-25A31B9A56BF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7A4BD7FE-8AF5-F4D7-4A7E-8DB367969CA4}"/>
              </a:ext>
            </a:extLst>
          </p:cNvPr>
          <p:cNvSpPr/>
          <p:nvPr/>
        </p:nvSpPr>
        <p:spPr>
          <a:xfrm>
            <a:off x="274320" y="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08 — Sinkronisasi Data dari API Kemenkop</a:t>
            </a:r>
            <a:endParaRPr lang="en-US" sz="1500" dirty="0"/>
          </a:p>
        </p:txBody>
      </p:sp>
      <p:sp>
        <p:nvSpPr>
          <p:cNvPr id="35" name="Shape 2">
            <a:extLst>
              <a:ext uri="{FF2B5EF4-FFF2-40B4-BE49-F238E27FC236}">
                <a16:creationId xmlns:a16="http://schemas.microsoft.com/office/drawing/2014/main" id="{70DBE300-102D-7A78-5F0D-A1AA013F8541}"/>
              </a:ext>
            </a:extLst>
          </p:cNvPr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A879F43F-3330-75D2-5259-58E1740B3A11}"/>
              </a:ext>
            </a:extLst>
          </p:cNvPr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D8DC"/>
                </a:solidFill>
              </a:rPr>
              <a:t>24/28</a:t>
            </a:r>
            <a:endParaRPr lang="en-US" sz="10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FB55BD00-D60D-9FFB-0C52-4C080B60F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34" y="502920"/>
            <a:ext cx="4245866" cy="222926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CBE8C11-8A0A-8EF0-ED9F-A333E5B01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218" y="478642"/>
            <a:ext cx="4172948" cy="225354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E523C92-1032-877E-FC47-BB94D970D7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834" y="2867674"/>
            <a:ext cx="4245866" cy="201795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7160EF5-B144-0093-96A4-976C116F86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5218" y="2883509"/>
            <a:ext cx="4245867" cy="198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5129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E53935">
                    <a:alpha val="40000"/>
                  </a:srgbClr>
                </a:solidFill>
              </a:rPr>
              <a:t>09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365760" y="201168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Tips &amp; Troubleshooting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90A4AE"/>
                </a:solidFill>
              </a:rPr>
              <a:t>Solusi masalah umum dan tips penggunaan optimal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09 — Masalah Umum &amp; Solusi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D8DC"/>
                </a:solidFill>
              </a:rPr>
              <a:t>26/28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</a:rPr>
              <a:t>Dashboard Koperasi Desa/Kelurahan Merah Putih — Sulawesi Tenggara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</a:rPr>
              <a:t>Temukan solusi cepat untuk kendala yang paling sering ditemui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143000"/>
            <a:ext cx="4160520" cy="109728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143000"/>
            <a:ext cx="4160520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23444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</a:rPr>
              <a:t>❓  Data tidak muncul / loading lama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60020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✅  Periksa koneksi internet. Klik area statistik di header untuk memuat ulang data (Sinkronisasi).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377440"/>
            <a:ext cx="4160520" cy="109728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4160520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46888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</a:rPr>
              <a:t>❓  Peta tidak tampil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83464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✅  Refresh halaman. Koneksi internet stabil diperlukan karena tile peta dimuat dari server eksternal.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611880"/>
            <a:ext cx="4160520" cy="109728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611880"/>
            <a:ext cx="4160520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7033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</a:rPr>
              <a:t>❓  Login gagal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406908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✅  Pastikan username &amp; password benar. Hubungi admin sistem jika lupa kredensial.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1143000"/>
            <a:ext cx="4160520" cy="109728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17720" y="1143000"/>
            <a:ext cx="4160520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09160" y="123444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</a:rPr>
              <a:t>❓  Foto koperasi tidak tampil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160020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✅  URL foto tidak valid atau akses Google Drive dibatasi. Gunakan tombol 'Unggah' di form untuk foto baru.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17720" y="2377440"/>
            <a:ext cx="4160520" cy="109728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17720" y="2377440"/>
            <a:ext cx="4160520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09160" y="246888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</a:rPr>
              <a:t>❓  Sinkronisasi API Kemenkop gagal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283464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✅  Perlu koneksi stabil. Pastikan koperasi memiliki URL sistem yang valid di field URL.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3611880"/>
            <a:ext cx="4160520" cy="109728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17720" y="3611880"/>
            <a:ext cx="4160520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09160" y="37033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</a:rPr>
              <a:t>❓  Halaman database.html tidak bisa dibuka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9160" y="406908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✅  Anda harus login Admin terlebih dahulu. Sistem otomatis redirect ke halaman login.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09 — Tips Penggunaan Optimal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D8DC"/>
                </a:solidFill>
              </a:rPr>
              <a:t>27/28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</a:rPr>
              <a:t>Dashboard Koperasi Desa/Kelurahan Merah Putih — Sulawesi Tenggara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238"/>
                </a:solidFill>
              </a:rPr>
              <a:t>Gunakan fitur-fitur ini untuk pengalaman terbaik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2724912" cy="1536192"/>
          </a:xfrm>
          <a:prstGeom prst="rect">
            <a:avLst/>
          </a:prstGeom>
          <a:solidFill>
            <a:srgbClr val="FFFDE7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23444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11480" y="1755648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238"/>
                </a:solidFill>
              </a:rPr>
              <a:t>Filter dulu, Export kemudian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05740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</a:rPr>
              <a:t>Gunakan filter wilayah/status sebelum export Excel agar file yang diunduh hanya berisi data yang relevan.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097280"/>
            <a:ext cx="2724912" cy="1536192"/>
          </a:xfrm>
          <a:prstGeom prst="rect">
            <a:avLst/>
          </a:prstGeom>
          <a:solidFill>
            <a:srgbClr val="E3F2FD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0" y="123444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🗺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91840" y="1755648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238"/>
                </a:solidFill>
              </a:rPr>
              <a:t>Aktifkan Layer Batas Wilayah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205740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</a:rPr>
              <a:t>Layer 'Batas Wilayah (Kecamatan)' di kontrol layer peta membantu identifikasi area wilayah dengan lebih jelas.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0760" y="1097280"/>
            <a:ext cx="2724912" cy="1536192"/>
          </a:xfrm>
          <a:prstGeom prst="rect">
            <a:avLst/>
          </a:prstGeom>
          <a:solidFill>
            <a:srgbClr val="E8F5E9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80760" y="123444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72200" y="1755648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238"/>
                </a:solidFill>
              </a:rPr>
              <a:t>Gunakan Resizer Peta/Tabel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205740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</a:rPr>
              <a:t>Seret pembatas antara peta dan tabel untuk menyesuaikan proporsi sesuai kebutuhan (lebih banyak peta atau tabel).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788920"/>
            <a:ext cx="2724912" cy="1536192"/>
          </a:xfrm>
          <a:prstGeom prst="rect">
            <a:avLst/>
          </a:prstGeom>
          <a:solidFill>
            <a:srgbClr val="FFF5F5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292608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11480" y="3447288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238"/>
                </a:solidFill>
              </a:rPr>
              <a:t>Zoom sebelum klik koordinat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74904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</a:rPr>
              <a:t>Saat Mode Edit, zoom peta lebih dekat ke lokasi sebelum klik untuk mendapatkan koordinat yang lebih presisi.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788920"/>
            <a:ext cx="2724912" cy="1536192"/>
          </a:xfrm>
          <a:prstGeom prst="rect">
            <a:avLst/>
          </a:prstGeom>
          <a:solidFill>
            <a:srgbClr val="FFFDE7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0" y="292608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291840" y="3447288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238"/>
                </a:solidFill>
              </a:rPr>
              <a:t>Responsif di Mobile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374904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</a:rPr>
              <a:t>Sidebar akan otomatis menjadi overlay di layar kecil. Klik tombol ≡ untuk membuka/tutupnya.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0760" y="2788920"/>
            <a:ext cx="2724912" cy="1536192"/>
          </a:xfrm>
          <a:prstGeom prst="rect">
            <a:avLst/>
          </a:prstGeom>
          <a:solidFill>
            <a:srgbClr val="E3F2FD"/>
          </a:solidFill>
          <a:ln w="12700">
            <a:solidFill>
              <a:srgbClr val="CFD8D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080760" y="292608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🏷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172200" y="3447288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238"/>
                </a:solidFill>
              </a:rPr>
              <a:t>Label otomatis di zoom tinggi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72200" y="374904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</a:rPr>
              <a:t>Nama koperasi akan muncul di atas marker saat zoom &gt; 13.5. Zoom keluar untuk menyembunyikan label.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E53935">
              <a:alpha val="10000"/>
            </a:srgbClr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</a:rPr>
              <a:t>Terima Kasih!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0A4AE"/>
                </a:solidFill>
              </a:rPr>
              <a:t>Panduan lengkap juga tersedia dalam format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90A4AE"/>
                </a:solidFill>
              </a:rPr>
              <a:t>Buku Manual (.docx) yang dapat diunduh.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B5F6"/>
                </a:solidFill>
              </a:rPr>
              <a:t>Pertanyaan &amp; masukan dapat disampaikan kepada pengembang.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44348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CDD2"/>
                </a:solidFill>
              </a:rPr>
              <a:t>Dashboard Koperasi Desa/Kelurahan Merah Putih  ·  Sulawesi Tenggara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CDD2"/>
                </a:solidFill>
              </a:rPr>
              <a:t>@m45y  ·  LATSAR CPNS 2026  ·  GOL III ANGKATAN 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2157</Words>
  <Application>Microsoft Office PowerPoint</Application>
  <PresentationFormat>On-screen Show (16:9)</PresentationFormat>
  <Paragraphs>418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Panduan Dashboard Koperasi Merah Putih</dc:title>
  <dc:subject>PptxGenJS Presentation</dc:subject>
  <dc:creator>@m45y</dc:creator>
  <cp:lastModifiedBy>Masyhuri Arifin</cp:lastModifiedBy>
  <cp:revision>4</cp:revision>
  <dcterms:created xsi:type="dcterms:W3CDTF">2026-03-26T01:42:07Z</dcterms:created>
  <dcterms:modified xsi:type="dcterms:W3CDTF">2026-03-29T15:03:52Z</dcterms:modified>
</cp:coreProperties>
</file>